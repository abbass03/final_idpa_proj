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5950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0" cy="5143500"/>
          </a:xfrm>
          <a:prstGeom prst="rect">
            <a:avLst/>
          </a:prstGeom>
          <a:solidFill>
            <a:srgbClr val="1B2E45">
              <a:alpha val="20000"/>
            </a:srgbClr>
          </a:solidFill>
          <a:ln w="12700">
            <a:solidFill>
              <a:srgbClr val="1B2E45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0" y="0"/>
            <a:ext cx="1097280" cy="5143500"/>
          </a:xfrm>
          <a:prstGeom prst="rect">
            <a:avLst/>
          </a:prstGeom>
          <a:solidFill>
            <a:srgbClr val="1B2E45">
              <a:alpha val="20000"/>
            </a:srgbClr>
          </a:solidFill>
          <a:ln w="12700">
            <a:solidFill>
              <a:srgbClr val="1B2E4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77440" y="0"/>
            <a:ext cx="1097280" cy="5143500"/>
          </a:xfrm>
          <a:prstGeom prst="rect">
            <a:avLst/>
          </a:prstGeom>
          <a:solidFill>
            <a:srgbClr val="1B2E45">
              <a:alpha val="20000"/>
            </a:srgbClr>
          </a:solidFill>
          <a:ln w="12700">
            <a:solidFill>
              <a:srgbClr val="1B2E45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0" y="0"/>
            <a:ext cx="1097280" cy="5143500"/>
          </a:xfrm>
          <a:prstGeom prst="rect">
            <a:avLst/>
          </a:prstGeom>
          <a:solidFill>
            <a:srgbClr val="1B2E45">
              <a:alpha val="20000"/>
            </a:srgbClr>
          </a:solidFill>
          <a:ln w="12700">
            <a:solidFill>
              <a:srgbClr val="1B2E45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0" y="0"/>
            <a:ext cx="1097280" cy="5143500"/>
          </a:xfrm>
          <a:prstGeom prst="rect">
            <a:avLst/>
          </a:prstGeom>
          <a:solidFill>
            <a:srgbClr val="1B2E45">
              <a:alpha val="20000"/>
            </a:srgbClr>
          </a:solidFill>
          <a:ln w="12700">
            <a:solidFill>
              <a:srgbClr val="1B2E45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0"/>
            <a:ext cx="1097280" cy="5143500"/>
          </a:xfrm>
          <a:prstGeom prst="rect">
            <a:avLst/>
          </a:prstGeom>
          <a:solidFill>
            <a:srgbClr val="1B2E45">
              <a:alpha val="20000"/>
            </a:srgbClr>
          </a:solidFill>
          <a:ln w="12700">
            <a:solidFill>
              <a:srgbClr val="1B2E45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0" y="0"/>
            <a:ext cx="1097280" cy="5143500"/>
          </a:xfrm>
          <a:prstGeom prst="rect">
            <a:avLst/>
          </a:prstGeom>
          <a:solidFill>
            <a:srgbClr val="1B2E45">
              <a:alpha val="20000"/>
            </a:srgbClr>
          </a:solidFill>
          <a:ln w="12700">
            <a:solidFill>
              <a:srgbClr val="1B2E45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1040" y="0"/>
            <a:ext cx="1097280" cy="5143500"/>
          </a:xfrm>
          <a:prstGeom prst="rect">
            <a:avLst/>
          </a:prstGeom>
          <a:solidFill>
            <a:srgbClr val="1B2E45">
              <a:alpha val="20000"/>
            </a:srgbClr>
          </a:solidFill>
          <a:ln w="12700">
            <a:solidFill>
              <a:srgbClr val="1B2E45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640080"/>
            <a:ext cx="2194560" cy="2194560"/>
          </a:xfrm>
          <a:prstGeom prst="ellipse">
            <a:avLst/>
          </a:prstGeom>
          <a:solidFill>
            <a:srgbClr val="1B2E45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03720" y="640080"/>
            <a:ext cx="1554480" cy="219456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1691640"/>
            <a:ext cx="2194560" cy="54864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68580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🌍</a:t>
            </a:r>
            <a:endParaRPr lang="en-US" sz="7200" dirty="0"/>
          </a:p>
        </p:txBody>
      </p:sp>
      <p:sp>
        <p:nvSpPr>
          <p:cNvPr id="15" name="Shape 13"/>
          <p:cNvSpPr/>
          <p:nvPr/>
        </p:nvSpPr>
        <p:spPr>
          <a:xfrm>
            <a:off x="320040" y="822960"/>
            <a:ext cx="164592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8229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 543 / 743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0040" y="118872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Infobox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320040" y="192024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320040" y="27889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Edit Distance · Comparison · Clustering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20040" y="3246120"/>
            <a:ext cx="566928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383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 Abdallah-Hasan Bazzi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" y="3703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Lebanese American University  ·  Instructor: Dr. Joe Tekli  ·  Spring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Today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206240" cy="100584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54864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0759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3075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Improvements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preprocessing, better TED realism, bug fixes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423160"/>
            <a:ext cx="4206240" cy="100584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423160"/>
            <a:ext cx="54864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9631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249631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Decision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29718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trees vs preprocessed trees — cost vs accuracy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611880"/>
            <a:ext cx="4206240" cy="100584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611880"/>
            <a:ext cx="54864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68503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" y="368503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Matrix at Scale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1605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 × 193 countries, ~18,500 pairs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234440"/>
            <a:ext cx="4206240" cy="100584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234440"/>
            <a:ext cx="54864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30759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892040" y="13075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Algorithms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92040" y="17830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AHC, K-Medoids, DBSCAN — methods and challenges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423160"/>
            <a:ext cx="4206240" cy="100584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423160"/>
            <a:ext cx="54864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49631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892040" y="249631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Observations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92040" y="29718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clusters tell us about the world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611880"/>
            <a:ext cx="4206240" cy="100584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611880"/>
            <a:ext cx="54864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68503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892040" y="368503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892040" y="41605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exploration of the system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B4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Improved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preprocessing · Better TED · Correct patching · Cleaner pipeline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Semantic Preprocessing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3931920" cy="347472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800600" y="1234440"/>
            <a:ext cx="3931920" cy="347472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2344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00600" y="12344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"10,452 km2"  →  raw string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"1 December 1843"  →  raw string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697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"2021 estimate"  ≈  "2023 estimate"  (WRONG)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"$21.78 billion"  →  raw string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703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Trees inflated with redundant nodes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691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E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"10,452 km2"  →  number: 10452  unit: km²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194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E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"1 December 1843"  →  year/month/day nodes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697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E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"2021 estimate"  ≠  "2023 estimate"  (FIXED)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3200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E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"$21.78 billion"  →  currency + number + unit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703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E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Cleaner trees, better TED accuracy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79392" y="2926080"/>
            <a:ext cx="5029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2743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Patching &amp; Quality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743200" cy="1645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441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TED / Patch Alignment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 critical mismatch: values close numerically were treated as identical by TED but different by the patch validator. Now both agree — 12/12 test pairs pass.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1234440"/>
            <a:ext cx="2743200" cy="1645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3441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5 Patch Bugs Fixed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17373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ordering collisions, path resolution conflicts, semantic container mismatches, and depth-restricted promotion — all found and corrected.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1234440"/>
            <a:ext cx="2743200" cy="1645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3441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Cleaner Pipeline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17373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logic, reporting, output generation and UI integration now share a unified backend. Easier to maintain and extend.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063240"/>
            <a:ext cx="2743200" cy="1645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1729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Stronger Testing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5661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added for preprocessing, semantic value comparison, and TED consistency — verifying realistic country-data edge cases.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46120" y="3063240"/>
            <a:ext cx="2743200" cy="1645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83280" y="31729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Improved UI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35661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comparison runs, clearer tree inspection, better edit-script display, and cleaner XML/JSON/report output panels.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72200" y="3063240"/>
            <a:ext cx="2743200" cy="1645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09360" y="31729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35661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success rate went from partial to 12/12. TED distances are now semantically honest and consistent end-to-end.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DECISION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600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Trees  vs  Preprocessed Trees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clustering decision starts with this trade-off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069080" y="324612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69080" y="3246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Paths, Two Costs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3931920" cy="35661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3931920" cy="38404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Raw Trees  (~70 nodes)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Fast — 48 min for full 193x193 matrix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Simple to compute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7249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Good relative structure preserved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108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Drawbacks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401568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Narrow distance range: 45–119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730752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semantic understanding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059936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All countries look very similar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389120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Poor cluster separation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1234440"/>
            <a:ext cx="3931920" cy="3566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1234440"/>
            <a:ext cx="393192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2344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Preprocessed Trees  (~500 nodes)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20299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Wide distance range: 226–953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2377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Understands dates, numbers, units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27249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Better cluster discrimination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307238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Geographically coherent groups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3429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Drawbacks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3721608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Slow — 4 hours for full matrix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4050792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Trees 7x larger per country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4379976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Requires parallel computation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4663440"/>
            <a:ext cx="393192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4663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OUR CHOICE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20 Countries — Two Very Different Pictures</a:t>
            </a:r>
            <a:endParaRPr lang="en-US" sz="2800" dirty="0"/>
          </a:p>
        </p:txBody>
      </p:sp>
      <p:pic>
        <p:nvPicPr>
          <p:cNvPr id="5" name="Image 0" descr="/home/claude/matrix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234440"/>
            <a:ext cx="4251960" cy="3657600"/>
          </a:xfrm>
          <a:prstGeom prst="rect">
            <a:avLst/>
          </a:prstGeom>
        </p:spPr>
      </p:pic>
      <p:pic>
        <p:nvPicPr>
          <p:cNvPr id="6" name="Image 1" descr="/home/claude/matrix_p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234440"/>
            <a:ext cx="4251960" cy="36576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82880" y="4754880"/>
            <a:ext cx="4251960" cy="2286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182880" y="4754880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Trees  |  Range: 45–119  |  30 seconds to compute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663440" y="4754880"/>
            <a:ext cx="4251960" cy="228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663440" y="4754880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Preprocessed Trees  |  Range: 300–640  |  13 minutes to compute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Distance Matrix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1920240" cy="100584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3258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2004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77440" y="1280160"/>
            <a:ext cx="1920240" cy="100584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77440" y="13258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18,528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37744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Pairs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34840" y="1280160"/>
            <a:ext cx="1920240" cy="100584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34840" y="13258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226–953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43484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Range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92240" y="1280160"/>
            <a:ext cx="1920240" cy="100584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13258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hrs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49224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514600"/>
            <a:ext cx="8503920" cy="137160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514600"/>
            <a:ext cx="54864" cy="1371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578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tight bell curve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2926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193-country distance distribution forms a single symmetric bell curve — mean 469, std 89 — with no bimodal structure and no natural gaps. This is the first clue that no sharp natural clusters exist in this data.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069080"/>
            <a:ext cx="8503920" cy="86868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4133088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built it:  Parse all 193 XML files  →  Preprocess trees once (Phase 1)  →  Compute 18,528 TED pairs in parallel using multiprocessing.Pool  →  Cache to JSON  →  Never recompute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Clustering Algorithms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206240" cy="173736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441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 Agglomerative Hierarchical (AHC)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N singleton clusters. Repeatedly merge the closest pair until k clusters remain.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· Complete · Average linkage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Full dendrogram showing merge hierarchy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4206240" cy="1737360"/>
          </a:xfrm>
          <a:prstGeom prst="rect">
            <a:avLst/>
          </a:prstGeom>
          <a:solidFill>
            <a:srgbClr val="0A2A40"/>
          </a:solidFill>
          <a:ln w="12700">
            <a:solidFill>
              <a:srgbClr val="0A2A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3441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K-Medoids (PAM)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73736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k actual countries as cluster centers (medoids). Assign all others to nearest medoid. Swap medoids to reduce total cost.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92040" y="24231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directly on distance matrix — no centroid needed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92040" y="26974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k balanced clusters with real country centers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3154680"/>
            <a:ext cx="4206240" cy="1737360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2644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K-Means (via MDS)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65760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the distance matrix to 2-D using MDS, then run standard K-Means. Uses imaginary centroids, not real countries.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43434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comparison and scatter-plot visualization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46177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k clusters — loses info from 2-D compression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54880" y="3154680"/>
            <a:ext cx="4206240" cy="1737360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32644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DBSCAN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365760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dense neighborhoods: a country is a core point if it has enough neighbors within epsilon distance. No k required.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92040" y="43434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Explores: epsilon = 30, 65, 280, 320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92040" y="46177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Tight coherent micro-groups + noise points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Algorithm Struggled With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86868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64008" cy="8686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3444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⛓️  AHC — The Chaining Problem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0" y="1225296"/>
            <a:ext cx="1737360" cy="25603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122529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Unsuitable for this dataset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1517904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linkage strategies collapsed 94–96% of countries into one giant cluster with k−1 singletons. The bell-curve distance distribution has no natural gap, so AHC just absorbs one country at a time instead of forming balanced groups.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130552"/>
            <a:ext cx="8503920" cy="86868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130552"/>
            <a:ext cx="64008" cy="8686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9456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K-Medoids — Near-Zero Silhouette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0" y="2185416"/>
            <a:ext cx="1737360" cy="2560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218541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global partitioner despite low scores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2478024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scores hover near 0 across all k values (range: −0.006 to +0.022). This sounds bad but is expected: with no sharp cluster boundaries in the data, every country sits roughly equidistant from multiple clusters.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090672"/>
            <a:ext cx="8503920" cy="86868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090672"/>
            <a:ext cx="64008" cy="8686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1546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K-Means — Information Loss via MDS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0" y="3145536"/>
            <a:ext cx="1737360" cy="2560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31455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visualization only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3438144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Compressing 193-dimensional distances to 2-D before clustering loses structural nuance. On the 9-country demo, K-Means scored silhouette 0.11 vs K-Medoids 0.29 — Switzerland was misplaced into the European cluster instead of being correctly isolated.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4050792"/>
            <a:ext cx="8503920" cy="86868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4050792"/>
            <a:ext cx="64008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11480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🔇  DBSCAN — 92% Noise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858000" y="4105656"/>
            <a:ext cx="173736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410565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finding most-similar pairs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2920" y="4398264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tight epsilon values only 16 of 193 countries form clusters; the rest are labeled noise. No single epsilon cleanly separates the data. Most countries are structurally unique enough to be their own neighborhood.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Numbers Lie — Understanding Our Metrics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3474720" cy="2286000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3258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Hopkins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0.505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20040" y="2697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0.002  (5 independent trials)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30175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≈ 0.5 = random data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&gt; 0.75 needed for real clusters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977640" y="1234440"/>
            <a:ext cx="4846320" cy="118872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977640" y="1234440"/>
            <a:ext cx="54864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13258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silhouette is near zero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60520" y="169164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distance distribution is a uniform bell curve. Every country is roughly equidistant from multiple clusters, so a(i) and b(i) are always close. A score of ~0 is mathematically inevitable — not a sign the algorithm is wrong.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977640" y="2532888"/>
            <a:ext cx="4846320" cy="118872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977640" y="2532888"/>
            <a:ext cx="54864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26243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AHC silhouette looks high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60520" y="299008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clusters trivially score S(i) = 1.0 — they have no intra-cluster neighbors. One giant cluster + singletons inflates the average. The score of 0.25 is an artifact, not quality.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977640" y="3831336"/>
            <a:ext cx="4846320" cy="118872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977640" y="3831336"/>
            <a:ext cx="54864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392277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trust instead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60520" y="4288536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coherence: do the clusters match real-world regions? Average intra-cluster distance: lower = tighter group. The 9-country demo (K-Medoids silhouette 0.29, Dunn 0.90) shows the algorithm works correctly when clusters are real.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Clusters Make Sense — Geographically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206240" cy="11704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594360" cy="1170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737360"/>
            <a:ext cx="594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78408" y="13075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Medoid: Uruguay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78408" y="15819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 America + Caribbean + East Africa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8408" y="185623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presidential democracy structures and similar economic indicator fields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2514600"/>
            <a:ext cx="4206240" cy="117043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514600"/>
            <a:ext cx="594360" cy="1170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5146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" y="3017520"/>
            <a:ext cx="594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78408" y="25877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Medoid: Malta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78408" y="28620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&amp; Southern Europe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78408" y="313639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Parliamentary democracy, EU-related fields, complex multilingual infoboxes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3794760"/>
            <a:ext cx="4206240" cy="1170432"/>
          </a:xfrm>
          <a:prstGeom prst="rect">
            <a:avLst/>
          </a:prstGeom>
          <a:solidFill>
            <a:srgbClr val="1A2A40"/>
          </a:solidFill>
          <a:ln w="12700">
            <a:solidFill>
              <a:srgbClr val="1A2A4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794760"/>
            <a:ext cx="594360" cy="1170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79476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" y="4297680"/>
            <a:ext cx="594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78408" y="38679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Medoid: Senegal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78408" y="41422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Francophone Africa + Southeast Asia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78408" y="441655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Surprising! Reflects shared post-colonial administrative structures — same Wikipedia editing conventions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54880" y="1554480"/>
            <a:ext cx="4206240" cy="1170432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1554480"/>
            <a:ext cx="594360" cy="1170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5544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54880" y="2057400"/>
            <a:ext cx="594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13248" y="16276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Medoid: Uzbekistan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13248" y="19019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East + Central Asia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13248" y="217627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Soviet + Islamic governance fields + basic economic blocks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54880" y="2834640"/>
            <a:ext cx="4206240" cy="1170432"/>
          </a:xfrm>
          <a:prstGeom prst="rect">
            <a:avLst/>
          </a:prstGeom>
          <a:solidFill>
            <a:srgbClr val="0A1E30"/>
          </a:solidFill>
          <a:ln w="12700">
            <a:solidFill>
              <a:srgbClr val="0A1E3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2834640"/>
            <a:ext cx="594360" cy="1170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8346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754880" y="3337560"/>
            <a:ext cx="594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13248" y="29077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Medoid: Tuvalu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13248" y="31821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Pacific Microstates (tightest cluster)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413248" y="345643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Virtually identical sparse infoboxes — tiny population, area, GDP, Commonwealth fields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DBSCAN: Finding the Most Similar Pairs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18872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epsilon = 51, DBSCAN found 6 tight geographically perfect micro-groups out of 193 countries: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645920"/>
            <a:ext cx="4206240" cy="1024128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9768" y="170992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🏝️  Caribbean Island States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29768" y="20299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Grenada · Jamaica · Saint Lucia · The Bahamas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29768" y="2304288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identical infobox structure: area, population, GDP, HDI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645920"/>
            <a:ext cx="4206240" cy="1024128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64608" y="170992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Eastern Caribbean Micro-States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64608" y="20299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Dominica · Saint Kitts &amp; Nevis · Saint Vincent &amp; the Grenadines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64608" y="2304288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Tighter sub-cluster within the Caribbean group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4206240" cy="1024128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9768" y="285292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🌎  Central American Neighbors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29768" y="31729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Salvador · Guatemala · Honduras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29768" y="3447288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regional governance and economic profile fields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2788920"/>
            <a:ext cx="4206240" cy="1024128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64608" y="285292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West African Pair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64608" y="31729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 · Sierra Leone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64608" y="3447288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post-colonial economic structure fields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931920"/>
            <a:ext cx="4206240" cy="1024128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29768" y="399592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 Pacific Island States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29768" y="43159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Papua New Guinea · Tuvalu · Vanuatu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29768" y="4590288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infoboxes with minimal history, small data blocks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3931920"/>
            <a:ext cx="4206240" cy="1024128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64608" y="399592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Small Island Nations (mixed)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64608" y="43159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 Verde · Sao Tome · Djibouti · Tajikistan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64608" y="4590288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minimal infoboxes with few populated fields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206240" cy="114300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54864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307592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Preprocessing is everything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1691640"/>
            <a:ext cx="39136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semantic expansion, TED compares raw strings. With it, dates, numbers, and units are structurally understood — producing 4x wider distance ranges and meaningful comparisons.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4206240" cy="114300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34440"/>
            <a:ext cx="54864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307592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Low metrics are not failure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19472" y="1691640"/>
            <a:ext cx="39136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Hopkins H = 0.505 formally proves the data has no natural clusters. Near-zero silhouette is mathematically inevitable — not an algorithm defect. Honest science beats inflated numbers.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496312"/>
            <a:ext cx="4206240" cy="114300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496312"/>
            <a:ext cx="54864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2569464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K-Medoids wins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" y="2953512"/>
            <a:ext cx="39136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algorithm producing balanced, interpretable partitions. Works directly on the distance matrix without lossy 2D compression. Geographic coherence validates its results.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2496312"/>
            <a:ext cx="4206240" cy="114300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496312"/>
            <a:ext cx="54864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2569464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Structure encodes history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19472" y="2953512"/>
            <a:ext cx="39136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cluster by colonial heritage, governance systems, and Wikipedia editing community conventions — not just geography. Senegal grouping with Southeast Asia is post-colonial history in data form.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758184"/>
            <a:ext cx="4206240" cy="114300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758184"/>
            <a:ext cx="54864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" y="3831336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Parallelization is essential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" y="4215384"/>
            <a:ext cx="39136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18,528 TED pairs on preprocessed trees would take days sequentially. Multiprocessing.Pool across 4 cores reduced it to 4 hours. Architecture matters as much as algorithms.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3758184"/>
            <a:ext cx="4206240" cy="114300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758184"/>
            <a:ext cx="54864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3831336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DBSCAN finds truth at micro-scale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19472" y="4215384"/>
            <a:ext cx="39136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Caribbean islands, Central American neighbors, Pacific microstates — structurally identical groups emerge naturally. Use DBSCAN to find the most similar pairs, K-Medoids for global view.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F4A261">
              <a:alpha val="12000"/>
            </a:srgbClr>
          </a:solidFill>
          <a:ln w="12700">
            <a:solidFill>
              <a:srgbClr val="F4A261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600200" y="24231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00200" y="295351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00200" y="348386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00200" y="4014216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http://127.0.0.1:8765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1686</Words>
  <Application>Microsoft Office PowerPoint</Application>
  <PresentationFormat>On-screen Show (16:9)</PresentationFormat>
  <Paragraphs>235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Wikipedia Infobox Intelligence</dc:title>
  <dc:subject>PptxGenJS Presentation</dc:subject>
  <dc:creator>PptxGenJS</dc:creator>
  <cp:lastModifiedBy>admin</cp:lastModifiedBy>
  <cp:revision>2</cp:revision>
  <dcterms:created xsi:type="dcterms:W3CDTF">2026-05-18T21:43:33Z</dcterms:created>
  <dcterms:modified xsi:type="dcterms:W3CDTF">2026-05-18T21:46:00Z</dcterms:modified>
</cp:coreProperties>
</file>